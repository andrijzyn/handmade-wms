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Poppins" panose="00000500000000000000" pitchFamily="2" charset="0"/>
      <p:regular r:id="rId13"/>
      <p:bold r:id="rId14"/>
      <p:italic r:id="rId15"/>
      <p:boldItalic r:id="rId16"/>
    </p:embeddedFont>
    <p:embeddedFont>
      <p:font typeface="Urbanist" panose="020B060402020202020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0EAAA8-D9E8-16B1-1817-52B769DD1622}" v="317" dt="2026-05-22T00:08:14.769"/>
    <p1510:client id="{CA0FC0DA-D836-18D9-917C-7DC1B5AE0C46}" v="156" dt="2026-05-21T21:26:58.700"/>
  </p1510:revLst>
</p1510:revInfo>
</file>

<file path=ppt/tableStyles.xml><?xml version="1.0" encoding="utf-8"?>
<a:tblStyleLst xmlns:a="http://schemas.openxmlformats.org/drawingml/2006/main" def="{CE6E7657-813E-4D68-A1AE-9DB1BE22483A}">
  <a:tblStyle styleId="{CE6E7657-813E-4D68-A1AE-9DB1BE22483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bum-developer.tistory.com/entry/Nextjs-Nextjs-%EB%B0%B0%ED%8F%AC-%EC%8B%9C-%EB%B0%9C%EC%83%9D%ED%95%9C-%EB%AC%B8%EC%A0%9C-Build-optimization-failed-found-page-without-a-React-Component-as-default-export-in-pages-error" TargetMode="Externa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1524000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Stock</a:t>
            </a:r>
            <a:r>
              <a:rPr lang="en-US" sz="6000" b="1" i="0" u="none" strike="noStrike" cap="none">
                <a:solidFill>
                  <a:srgbClr val="DEFF9A"/>
                </a:solidFill>
                <a:latin typeface="Poppins"/>
                <a:ea typeface="Poppins"/>
                <a:cs typeface="Poppins"/>
                <a:sym typeface="Poppins"/>
              </a:rPr>
              <a:t>Pulse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286000" y="2857500"/>
            <a:ext cx="762000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Розробка ПЗ для керування логістикою військових складів в умовах обмежених ресурсів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449960"/>
            <a:ext cx="1104900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Виконав:</a:t>
            </a: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Зинюк Андрій Андрійович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4861321"/>
            <a:ext cx="1104900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Кваліфікаційна робота молодшого бакалавра |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71500" y="1714500"/>
            <a:ext cx="5286375" cy="872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Сучасні </a:t>
            </a: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конфлікти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довели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що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логістика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— </a:t>
            </a: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критичний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фактор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боєздатності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 </a:t>
            </a: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Неефективний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облік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створює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ризики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для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своєчасного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забезпечення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pic>
        <p:nvPicPr>
          <p:cNvPr id="95" name="Google Shape;95;p14" descr="Illuminated server room panel"/>
          <p:cNvPicPr preferRelativeResize="0"/>
          <p:nvPr/>
        </p:nvPicPr>
        <p:blipFill rotWithShape="1">
          <a:blip r:embed="rId4"/>
          <a:srcRect/>
          <a:stretch/>
        </p:blipFill>
        <p:spPr>
          <a:xfrm>
            <a:off x="7295097" y="1261836"/>
            <a:ext cx="3945456" cy="275726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764048" y="2594256"/>
            <a:ext cx="5945955" cy="1277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</a:rPr>
              <a:t>Фрагментовані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</a:rPr>
              <a:t> ІТ-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</a:rPr>
              <a:t>ландшафти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</a:rPr>
              <a:t>навіть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</a:rPr>
              <a:t> у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</a:rPr>
              <a:t>розвинених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</a:rPr>
              <a:t>арміях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</a:rPr>
              <a:t>.</a:t>
            </a:r>
            <a:endParaRPr lang="uk-UA" dirty="0"/>
          </a:p>
          <a:p>
            <a:pPr>
              <a:lnSpc>
                <a:spcPct val="200000"/>
              </a:lnSpc>
            </a:pP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Звіт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NAO UK: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застарілі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системи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ставлять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під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загрозу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фронт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lang="en-US" sz="1350" dirty="0">
              <a:solidFill>
                <a:srgbClr val="DAFFDE"/>
              </a:solidFill>
              <a:latin typeface="Urbanist"/>
              <a:ea typeface="Urbanist"/>
              <a:cs typeface="Urbanist"/>
            </a:endParaRPr>
          </a:p>
          <a:p>
            <a:pPr marR="0" lv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Розрив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між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централізованими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ERP </a:t>
            </a: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та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реальними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складами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Контекст та </a:t>
            </a:r>
            <a:r>
              <a:rPr lang="en-US" sz="3600" b="1" i="0" u="none" strike="noStrike" cap="none">
                <a:solidFill>
                  <a:srgbClr val="DEFF9A"/>
                </a:solidFill>
                <a:latin typeface="Poppins"/>
                <a:ea typeface="Poppins"/>
                <a:cs typeface="Poppins"/>
                <a:sym typeface="Poppins"/>
              </a:rPr>
              <a:t>Актуальність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6387" y="106516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8" name="Google Shape;108;p15"/>
          <p:cNvGraphicFramePr/>
          <p:nvPr>
            <p:extLst>
              <p:ext uri="{D42A27DB-BD31-4B8C-83A1-F6EECF244321}">
                <p14:modId xmlns:p14="http://schemas.microsoft.com/office/powerpoint/2010/main" val="3323559234"/>
              </p:ext>
            </p:extLst>
          </p:nvPr>
        </p:nvGraphicFramePr>
        <p:xfrm>
          <a:off x="571500" y="1733550"/>
          <a:ext cx="11049000" cy="2666375"/>
        </p:xfrm>
        <a:graphic>
          <a:graphicData uri="http://schemas.openxmlformats.org/drawingml/2006/table">
            <a:tbl>
              <a:tblPr firstRow="1" bandRow="1">
                <a:noFill/>
                <a:tableStyleId>{CE6E7657-813E-4D68-A1AE-9DB1BE22483A}</a:tableStyleId>
              </a:tblPr>
              <a:tblGrid>
                <a:gridCol w="226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8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0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3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 err="1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Критерій</a:t>
                      </a:r>
                      <a:endParaRPr dirty="0" err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EFF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ERP (SAP/Oracle)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EFF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 err="1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Папір</a:t>
                      </a:r>
                      <a:r>
                        <a:rPr lang="en-US" sz="1350" b="1" i="0" u="none" strike="noStrike" cap="none" dirty="0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/ Excel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EFF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 err="1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StockPulse</a:t>
                      </a:r>
                      <a:endParaRPr dirty="0" err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EFF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Вартість</a:t>
                      </a:r>
                      <a:r>
                        <a:rPr lang="en-US" sz="1350" b="0" i="0" u="none" strike="noStrike" cap="none" dirty="0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(TCO)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Від</a:t>
                      </a:r>
                      <a:r>
                        <a:rPr lang="en-US" sz="1350" b="0" i="0" u="none" strike="noStrike" cap="none" dirty="0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€740,000 (3 </a:t>
                      </a:r>
                      <a:r>
                        <a:rPr lang="en-US" sz="1350" b="0" i="0" u="none" strike="noStrike" cap="none" dirty="0" err="1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роки</a:t>
                      </a:r>
                      <a:r>
                        <a:rPr lang="en-US" sz="1350" b="0" i="0" u="none" strike="noStrike" cap="none" dirty="0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€0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€0 (Open Source)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Впровадження</a:t>
                      </a:r>
                      <a:endParaRPr dirty="0" err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Місяці</a:t>
                      </a:r>
                      <a:r>
                        <a:rPr lang="en-US" sz="1350" b="0" i="0" u="none" strike="noStrike" cap="none" dirty="0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/ </a:t>
                      </a:r>
                      <a:r>
                        <a:rPr lang="en-US" sz="1350" b="0" i="0" u="none" strike="noStrike" cap="none" dirty="0" err="1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Роки</a:t>
                      </a:r>
                      <a:endParaRPr dirty="0" err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Миттєво</a:t>
                      </a:r>
                      <a:endParaRPr dirty="0" err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Години</a:t>
                      </a:r>
                      <a:endParaRPr dirty="0" err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Вимоги</a:t>
                      </a:r>
                      <a:r>
                        <a:rPr lang="en-US" sz="1350" b="0" i="0" u="none" strike="noStrike" cap="none" dirty="0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до</a:t>
                      </a:r>
                      <a:r>
                        <a:rPr lang="en-US" sz="1350" b="0" i="0" u="none" strike="noStrike" cap="none" dirty="0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мережі</a:t>
                      </a:r>
                      <a:endParaRPr dirty="0" err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Стабільний</a:t>
                      </a:r>
                      <a:r>
                        <a:rPr lang="en-US" sz="1350" b="0" i="0" u="none" strike="noStrike" cap="none" dirty="0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інтернет</a:t>
                      </a:r>
                      <a:endParaRPr dirty="0" err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Немає</a:t>
                      </a:r>
                      <a:endParaRPr dirty="0" err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Оптимізовано </a:t>
                      </a:r>
                      <a:r>
                        <a:rPr lang="en-US" sz="1350" b="0" i="0" u="none" strike="noStrike" cap="none" dirty="0" err="1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для</a:t>
                      </a:r>
                      <a:r>
                        <a:rPr lang="en-US" sz="1350" b="0" i="0" u="none" strike="noStrike" cap="none" dirty="0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слабкого</a:t>
                      </a:r>
                      <a:r>
                        <a:rPr lang="en-US" sz="1350" b="0" i="0" u="none" strike="noStrike" cap="none" dirty="0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зв'язку</a:t>
                      </a:r>
                      <a:endParaRPr dirty="0" err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Простота</a:t>
                      </a:r>
                      <a:endParaRPr dirty="0" err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Низька</a:t>
                      </a:r>
                      <a:r>
                        <a:rPr lang="en-US" sz="1350" b="0" i="0" u="none" strike="noStrike" cap="none" dirty="0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(</a:t>
                      </a:r>
                      <a:r>
                        <a:rPr lang="en-US" sz="1350" b="0" i="0" u="none" strike="noStrike" cap="none" dirty="0" err="1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потрібні</a:t>
                      </a:r>
                      <a:r>
                        <a:rPr lang="en-US" sz="1350" b="0" i="0" u="none" strike="noStrike" cap="none" dirty="0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фахівці</a:t>
                      </a:r>
                      <a:r>
                        <a:rPr lang="en-US" sz="1350" b="0" i="0" u="none" strike="noStrike" cap="none" dirty="0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Висока</a:t>
                      </a:r>
                      <a:endParaRPr dirty="0" err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Висока</a:t>
                      </a:r>
                      <a:r>
                        <a:rPr lang="en-US" sz="1350" b="0" i="0" u="none" strike="noStrike" cap="none" dirty="0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(BFF </a:t>
                      </a:r>
                      <a:r>
                        <a:rPr lang="en-US" sz="1350" b="0" i="0" u="none" strike="noStrike" cap="none" dirty="0" err="1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архітектура</a:t>
                      </a:r>
                      <a:r>
                        <a:rPr lang="en-US" sz="1350" b="0" i="0" u="none" strike="noStrike" cap="none" dirty="0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9" name="Google Shape;109;p15"/>
          <p:cNvSpPr/>
          <p:nvPr/>
        </p:nvSpPr>
        <p:spPr>
          <a:xfrm>
            <a:off x="571500" y="2780109"/>
            <a:ext cx="2261592" cy="9525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2833092" y="2780109"/>
            <a:ext cx="3008262" cy="9525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5841355" y="2780109"/>
            <a:ext cx="1740247" cy="9525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7581602" y="2780109"/>
            <a:ext cx="4038897" cy="9525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571500" y="3315295"/>
            <a:ext cx="2261592" cy="9525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2833092" y="3315295"/>
            <a:ext cx="3008262" cy="9525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/>
          <p:nvPr/>
        </p:nvSpPr>
        <p:spPr>
          <a:xfrm>
            <a:off x="5841355" y="3315295"/>
            <a:ext cx="1740247" cy="9525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7581602" y="3315295"/>
            <a:ext cx="4038897" cy="9525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571500" y="3850481"/>
            <a:ext cx="2261592" cy="9525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2833092" y="3850481"/>
            <a:ext cx="3008262" cy="9525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5841355" y="3850481"/>
            <a:ext cx="1740247" cy="9525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7581602" y="3850481"/>
            <a:ext cx="4038897" cy="9525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571500" y="4385667"/>
            <a:ext cx="2261592" cy="9525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2833092" y="4385667"/>
            <a:ext cx="3008262" cy="9525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5841355" y="4385667"/>
            <a:ext cx="1740247" cy="9525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7581602" y="4385667"/>
            <a:ext cx="4038897" cy="9525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Аналіз </a:t>
            </a:r>
            <a:r>
              <a:rPr lang="en-US" sz="3600" b="1" i="0" u="none" strike="noStrike" cap="none">
                <a:solidFill>
                  <a:srgbClr val="DEFF9A"/>
                </a:solidFill>
                <a:latin typeface="Poppins"/>
                <a:ea typeface="Poppins"/>
                <a:cs typeface="Poppins"/>
                <a:sym typeface="Poppins"/>
              </a:rPr>
              <a:t>існуючих рішень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571500" y="571500"/>
            <a:ext cx="520065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Концепція </a:t>
            </a:r>
            <a:r>
              <a:rPr lang="en-US" sz="3600" b="1" i="0" u="none" strike="noStrike" cap="none">
                <a:solidFill>
                  <a:srgbClr val="DEFF9A"/>
                </a:solidFill>
                <a:latin typeface="Poppins"/>
                <a:ea typeface="Poppins"/>
                <a:cs typeface="Poppins"/>
                <a:sym typeface="Poppins"/>
              </a:rPr>
              <a:t>StockPulse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571500" y="2400300"/>
            <a:ext cx="4762500" cy="719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Це "легка" браузерна система складського обліку, що заповнює нішу між паперовими журналами та важкими ERP-платформами.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571500" y="3462932"/>
            <a:ext cx="4762500" cy="719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Мета:</a:t>
            </a: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забезпечення цифрового сліду кожної операції та узгодженість даних у режимі реального часу для польових підрозділів.</a:t>
            </a:r>
            <a:endParaRPr/>
          </a:p>
        </p:txBody>
      </p:sp>
      <p:pic>
        <p:nvPicPr>
          <p:cNvPr id="2" name="Рисунок 1" descr="Soldier with tablet">
            <a:extLst>
              <a:ext uri="{FF2B5EF4-FFF2-40B4-BE49-F238E27FC236}">
                <a16:creationId xmlns:a16="http://schemas.microsoft.com/office/drawing/2014/main" id="{5243B996-645B-1772-6B90-8EDC2E16E19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647" t="16" r="31804"/>
          <a:stretch>
            <a:fillRect/>
          </a:stretch>
        </p:blipFill>
        <p:spPr>
          <a:xfrm>
            <a:off x="7231626" y="-130"/>
            <a:ext cx="4959617" cy="68593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43050"/>
            <a:ext cx="2619375" cy="32059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81375" y="1543050"/>
            <a:ext cx="2619375" cy="32059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0" y="1543050"/>
            <a:ext cx="2619375" cy="32059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01125" y="1543050"/>
            <a:ext cx="2619375" cy="32059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9150" y="1790700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819150" y="2238375"/>
            <a:ext cx="103184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Облік ТМЦ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819150" y="2921922"/>
            <a:ext cx="2124075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Додавання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редагування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та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контроль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надходження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/</a:t>
            </a: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списання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майна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pic>
        <p:nvPicPr>
          <p:cNvPr id="147" name="Google Shape;147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629025" y="1790700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3629025" y="2238375"/>
            <a:ext cx="194555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Адресне зберігання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3629025" y="3069406"/>
            <a:ext cx="2124075" cy="719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Прив'язка товарів до конкретних комірок (ряд, колонка, рівень).</a:t>
            </a:r>
            <a:endParaRPr/>
          </a:p>
        </p:txBody>
      </p:sp>
      <p:pic>
        <p:nvPicPr>
          <p:cNvPr id="150" name="Google Shape;150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38900" y="1790700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6438900" y="2238375"/>
            <a:ext cx="1238436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Ролі (RBAC)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6438900" y="3069406"/>
            <a:ext cx="2124075" cy="719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Розмежування доступу: Адміністратор, Персонал складу, Командир.</a:t>
            </a:r>
            <a:endParaRPr/>
          </a:p>
        </p:txBody>
      </p:sp>
      <p:pic>
        <p:nvPicPr>
          <p:cNvPr id="153" name="Google Shape;153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248775" y="179070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 txBox="1"/>
          <p:nvPr/>
        </p:nvSpPr>
        <p:spPr>
          <a:xfrm>
            <a:off x="9248775" y="2238375"/>
            <a:ext cx="910426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Дашборд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9248775" y="3069406"/>
            <a:ext cx="2124075" cy="719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Моніторинг залишків та критичних рівнів запасів у реальному часі.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Ключовий </a:t>
            </a:r>
            <a:r>
              <a:rPr lang="en-US" sz="3600" b="1" i="0" u="none" strike="noStrike" cap="none">
                <a:solidFill>
                  <a:srgbClr val="DEFF9A"/>
                </a:solidFill>
                <a:latin typeface="Poppins"/>
                <a:ea typeface="Poppins"/>
                <a:cs typeface="Poppins"/>
                <a:sym typeface="Poppins"/>
              </a:rPr>
              <a:t>Функціонал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8"/>
          <p:cNvPicPr preferRelativeResize="0"/>
          <p:nvPr/>
        </p:nvPicPr>
        <p:blipFill rotWithShape="1"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rcRect/>
          <a:stretch/>
        </p:blipFill>
        <p:spPr>
          <a:xfrm>
            <a:off x="7339781" y="1092405"/>
            <a:ext cx="4848531" cy="273736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923925" y="1696402"/>
            <a:ext cx="2857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952500" y="1711837"/>
            <a:ext cx="6388407" cy="290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Next.js 15:</a:t>
            </a: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Висока швидкість рендерингу та серверні API маршрути.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923925" y="2176224"/>
            <a:ext cx="2857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952500" y="2167078"/>
            <a:ext cx="6331052" cy="290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PostgreSQL (Supabase):</a:t>
            </a: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Надійна база даних з підтримкою ACID транзакцій.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923925" y="2656046"/>
            <a:ext cx="2857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952500" y="2655093"/>
            <a:ext cx="5782084" cy="290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Tailwind CSS &amp; </a:t>
            </a:r>
            <a:r>
              <a:rPr lang="en-US" sz="135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shadcn</a:t>
            </a:r>
            <a:r>
              <a:rPr lang="en-US" sz="135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/</a:t>
            </a:r>
            <a:r>
              <a:rPr lang="en-US" sz="135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ui</a:t>
            </a:r>
            <a:r>
              <a:rPr lang="en-US" sz="135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Адаптивний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та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доступний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інтерфейс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користувача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169" name="Google Shape;169;p18"/>
          <p:cNvSpPr txBox="1"/>
          <p:nvPr/>
        </p:nvSpPr>
        <p:spPr>
          <a:xfrm>
            <a:off x="923925" y="3135868"/>
            <a:ext cx="2857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952500" y="3134915"/>
            <a:ext cx="4905375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iron-session:</a:t>
            </a: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Безпечна автентифікація на основі cookie-сесій.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Сучасний </a:t>
            </a:r>
            <a:r>
              <a:rPr lang="en-US" sz="3600" b="1" i="0" u="none" strike="noStrike" cap="none">
                <a:solidFill>
                  <a:srgbClr val="DEFF9A"/>
                </a:solidFill>
                <a:latin typeface="Poppins"/>
                <a:ea typeface="Poppins"/>
                <a:cs typeface="Poppins"/>
                <a:sym typeface="Poppins"/>
              </a:rPr>
              <a:t>Технологічний стек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009EB3-0AEF-6994-4707-00ED1105E7A2}"/>
              </a:ext>
            </a:extLst>
          </p:cNvPr>
          <p:cNvSpPr txBox="1"/>
          <p:nvPr/>
        </p:nvSpPr>
        <p:spPr>
          <a:xfrm>
            <a:off x="7061200" y="1724025"/>
            <a:ext cx="1587500" cy="317500"/>
          </a:xfrm>
          <a:prstGeom prst="rect">
            <a:avLst/>
          </a:prstGeom>
        </p:spPr>
        <p:txBody>
          <a:bodyPr>
            <a:normAutofit fontScale="40000" lnSpcReduction="20000"/>
          </a:bodyPr>
          <a:lstStyle/>
          <a:p>
            <a:r>
              <a:rPr lang="en-US"/>
              <a:t>ThePhoto (автор: PhotoAuthor) надається на умовах ліцензії CCYYSA.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43050"/>
            <a:ext cx="5286375" cy="2702718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/>
          <p:nvPr/>
        </p:nvSpPr>
        <p:spPr>
          <a:xfrm>
            <a:off x="857250" y="1828800"/>
            <a:ext cx="4950618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DEFF9A"/>
                </a:solidFill>
                <a:latin typeface="Poppins"/>
                <a:ea typeface="Poppins"/>
                <a:cs typeface="Poppins"/>
                <a:sym typeface="Poppins"/>
              </a:rPr>
              <a:t>Таблиці БД: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857250" y="2314575"/>
            <a:ext cx="4714875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1. </a:t>
            </a:r>
            <a:r>
              <a:rPr lang="en-US" sz="135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Products:</a:t>
            </a: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Номенклатура, SKU, пороги залишків.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857250" y="2725935"/>
            <a:ext cx="4714875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2. </a:t>
            </a:r>
            <a:r>
              <a:rPr lang="en-US" sz="135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Locations:</a:t>
            </a: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Адресація комірок складу.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857250" y="3137296"/>
            <a:ext cx="4714875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3. </a:t>
            </a:r>
            <a:r>
              <a:rPr lang="en-US" sz="135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Product_Locations:</a:t>
            </a: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Зв'язок товар-місце.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857250" y="3548657"/>
            <a:ext cx="4714875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4. </a:t>
            </a:r>
            <a:r>
              <a:rPr lang="en-US" sz="135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Users:</a:t>
            </a: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Облікові записи та ролі.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6334125" y="1543050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Принципи розробки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6375092" y="1985195"/>
            <a:ext cx="4958634" cy="581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Використання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Zod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для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суворої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валідації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даних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та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TanStack</a:t>
            </a:r>
            <a:r>
              <a:rPr lang="en-US" sz="135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Query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для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ефективного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кешування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на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фронтенді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185" name="Google Shape;185;p19"/>
          <p:cNvSpPr txBox="1"/>
          <p:nvPr/>
        </p:nvSpPr>
        <p:spPr>
          <a:xfrm>
            <a:off x="6375092" y="2661046"/>
            <a:ext cx="4958634" cy="581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Архітектура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BFF </a:t>
            </a: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дозволяє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масштабувати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систему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без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зайвих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витрат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186" name="Google Shape;186;p19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Архітектура та </a:t>
            </a:r>
            <a:r>
              <a:rPr lang="en-US" sz="3600" b="1" i="0" u="none" strike="noStrike" cap="none">
                <a:solidFill>
                  <a:srgbClr val="DEFF9A"/>
                </a:solidFill>
                <a:latin typeface="Poppins"/>
                <a:ea typeface="Poppins"/>
                <a:cs typeface="Poppins"/>
                <a:sym typeface="Poppins"/>
              </a:rPr>
              <a:t>Модель Даних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0" descr="Зображення, що містить текст, знімок екрана, програмне забезпечення, Мультимедійне програмне забезпечення&#10;&#10;Вміст на основі ШІ може бути неправильним."/>
          <p:cNvPicPr preferRelativeResize="0"/>
          <p:nvPr/>
        </p:nvPicPr>
        <p:blipFill rotWithShape="1">
          <a:blip r:embed="rId4"/>
          <a:srcRect/>
          <a:stretch/>
        </p:blipFill>
        <p:spPr>
          <a:xfrm>
            <a:off x="571500" y="1693284"/>
            <a:ext cx="5286374" cy="2887848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0"/>
          <p:cNvSpPr txBox="1"/>
          <p:nvPr/>
        </p:nvSpPr>
        <p:spPr>
          <a:xfrm>
            <a:off x="6252189" y="2550242"/>
            <a:ext cx="4909474" cy="581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25"/>
              </a:lnSpc>
            </a:pPr>
            <a:r>
              <a:rPr lang="en-US" sz="135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Dashboard: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Швидкий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доступ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до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статистики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br>
              <a:rPr lang="en-US" sz="135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"</a:t>
            </a: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Низький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залишок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" </a:t>
            </a: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та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"Відсутні </a:t>
            </a: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позиції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".</a:t>
            </a:r>
            <a:endParaRPr dirty="0"/>
          </a:p>
        </p:txBody>
      </p:sp>
      <p:sp>
        <p:nvSpPr>
          <p:cNvPr id="194" name="Google Shape;194;p20"/>
          <p:cNvSpPr txBox="1"/>
          <p:nvPr/>
        </p:nvSpPr>
        <p:spPr>
          <a:xfrm>
            <a:off x="6252189" y="3135965"/>
            <a:ext cx="4909473" cy="581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9925"/>
              </a:lnSpc>
            </a:pPr>
            <a:r>
              <a:rPr lang="en-US" sz="135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Управління</a:t>
            </a:r>
            <a:r>
              <a:rPr lang="en-US" sz="135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номенклатурою</a:t>
            </a:r>
            <a:r>
              <a:rPr lang="en-US" sz="135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Повнотекстовий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пошук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br>
              <a:rPr lang="en-US" dirty="0">
                <a:sym typeface="Urbanist"/>
              </a:rPr>
            </a:b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та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фільтрація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за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категоріями</a:t>
            </a: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195" name="Google Shape;195;p20"/>
          <p:cNvSpPr txBox="1"/>
          <p:nvPr/>
        </p:nvSpPr>
        <p:spPr>
          <a:xfrm>
            <a:off x="6252189" y="3721688"/>
            <a:ext cx="4983215" cy="290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Локації:</a:t>
            </a: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Динамічне управління розподілом ТМЦ по складу.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Візуалізація </a:t>
            </a:r>
            <a:r>
              <a:rPr lang="en-US" sz="3600" b="1" i="0" u="none" strike="noStrike" cap="none">
                <a:solidFill>
                  <a:srgbClr val="DEFF9A"/>
                </a:solidFill>
                <a:latin typeface="Poppins"/>
                <a:ea typeface="Poppins"/>
                <a:cs typeface="Poppins"/>
                <a:sym typeface="Poppins"/>
              </a:rPr>
              <a:t>Інтерфейсу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1"/>
          <p:cNvSpPr txBox="1"/>
          <p:nvPr/>
        </p:nvSpPr>
        <p:spPr>
          <a:xfrm>
            <a:off x="2079113" y="5779626"/>
            <a:ext cx="8041969" cy="581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39925"/>
              </a:lnSpc>
            </a:pPr>
            <a:r>
              <a:rPr lang="en-US" sz="1350" i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"</a:t>
            </a:r>
            <a:r>
              <a:rPr lang="en-US" sz="1350" i="1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Як</a:t>
            </a:r>
            <a:r>
              <a:rPr lang="en-US" sz="1350" i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350" i="1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ви</a:t>
            </a:r>
            <a:r>
              <a:rPr lang="en-US" sz="1350" i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350" i="1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бачите</a:t>
            </a:r>
            <a:r>
              <a:rPr lang="en-US" sz="1350" i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350" i="1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на</a:t>
            </a:r>
            <a:r>
              <a:rPr lang="en-US" sz="1350" i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350" i="1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звіті</a:t>
            </a:r>
            <a:r>
              <a:rPr lang="en-US" sz="1350" i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з Postman, </a:t>
            </a:r>
            <a:r>
              <a:rPr lang="en-US" sz="1350" i="1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система</a:t>
            </a:r>
            <a:r>
              <a:rPr lang="en-US" sz="1350" i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350" i="1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пройшла</a:t>
            </a:r>
            <a:r>
              <a:rPr lang="en-US" sz="1350" i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350" i="1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серію</a:t>
            </a:r>
            <a:r>
              <a:rPr lang="en-US" sz="1350" i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350" i="1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стрес-тестів</a:t>
            </a:r>
            <a:r>
              <a:rPr lang="en-US" sz="1350" i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350" i="1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по</a:t>
            </a:r>
            <a:r>
              <a:rPr lang="en-US" sz="1350" i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е2е-тестуванню API </a:t>
            </a:r>
            <a:r>
              <a:rPr lang="en-US" sz="1350" i="1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на</a:t>
            </a:r>
            <a:r>
              <a:rPr lang="en-US" sz="1350" i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350" i="1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базі</a:t>
            </a:r>
            <a:r>
              <a:rPr lang="en-US" sz="1350" i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350" i="1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Supabase</a:t>
            </a:r>
            <a:r>
              <a:rPr lang="en-US" sz="1350" i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:  </a:t>
            </a:r>
            <a:r>
              <a:rPr lang="en-US" sz="1350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Аналіз</a:t>
            </a:r>
            <a:r>
              <a:rPr lang="en-US" sz="135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350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надійності</a:t>
            </a:r>
            <a:r>
              <a:rPr lang="en-US" sz="135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: 2,000+ </a:t>
            </a:r>
            <a:r>
              <a:rPr lang="en-US" sz="1350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запитів</a:t>
            </a:r>
            <a:r>
              <a:rPr lang="en-US" sz="135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350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із</a:t>
            </a:r>
            <a:r>
              <a:rPr lang="en-US" sz="135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350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мінімальним</a:t>
            </a:r>
            <a:r>
              <a:rPr lang="en-US" sz="135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350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рівнем</a:t>
            </a:r>
            <a:r>
              <a:rPr lang="en-US" sz="135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350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відмов</a:t>
            </a:r>
            <a:r>
              <a:rPr lang="en-US" sz="135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(0.29%)</a:t>
            </a:r>
          </a:p>
        </p:txBody>
      </p:sp>
      <p:sp>
        <p:nvSpPr>
          <p:cNvPr id="204" name="Google Shape;204;p21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600" b="1" i="0" u="none" strike="noStrike" cap="non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Результати </a:t>
            </a:r>
            <a:r>
              <a:rPr lang="uk-UA" sz="3600" b="1" i="0" u="none" strike="noStrike" cap="none">
                <a:solidFill>
                  <a:srgbClr val="DEFF9A"/>
                </a:solidFill>
                <a:latin typeface="Poppins"/>
                <a:ea typeface="Poppins"/>
                <a:cs typeface="Poppins"/>
                <a:sym typeface="Poppins"/>
              </a:rPr>
              <a:t>Тестування</a:t>
            </a:r>
            <a:endParaRPr lang="uk-UA"/>
          </a:p>
        </p:txBody>
      </p:sp>
      <p:pic>
        <p:nvPicPr>
          <p:cNvPr id="4" name="Рисунок 3" descr="Зображення, що містить текст, знімок екрана, схема, дизайн&#10;&#10;Вміст на основі ШІ може бути неправильним.">
            <a:extLst>
              <a:ext uri="{FF2B5EF4-FFF2-40B4-BE49-F238E27FC236}">
                <a16:creationId xmlns:a16="http://schemas.microsoft.com/office/drawing/2014/main" id="{468B772C-B15A-4F20-9F75-491BEB6DA1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6761" y="1253613"/>
            <a:ext cx="7318478" cy="434258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 txBox="1"/>
          <p:nvPr/>
        </p:nvSpPr>
        <p:spPr>
          <a:xfrm>
            <a:off x="295275" y="2000250"/>
            <a:ext cx="1160145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5F5F5"/>
                </a:solidFill>
                <a:latin typeface="Poppins"/>
                <a:ea typeface="Poppins"/>
                <a:cs typeface="Poppins"/>
                <a:sym typeface="Poppins"/>
              </a:rPr>
              <a:t>Дякую за </a:t>
            </a:r>
            <a:r>
              <a:rPr lang="en-US" sz="1800" b="1" i="0" u="none" strike="noStrike" cap="none">
                <a:solidFill>
                  <a:srgbClr val="DEFF9A"/>
                </a:solidFill>
                <a:latin typeface="Poppins"/>
                <a:ea typeface="Poppins"/>
                <a:cs typeface="Poppins"/>
                <a:sym typeface="Poppins"/>
              </a:rPr>
              <a:t>увагу!</a:t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2286000" y="2333625"/>
            <a:ext cx="762000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40000"/>
              </a:lnSpc>
            </a:pP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StockPulse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—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це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прототип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для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автоматизації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br>
              <a:rPr lang="en-US" sz="180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військової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логістики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на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рівні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польових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підрозділів</a:t>
            </a: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212" name="Google Shape;212;p22"/>
          <p:cNvSpPr txBox="1"/>
          <p:nvPr/>
        </p:nvSpPr>
        <p:spPr>
          <a:xfrm>
            <a:off x="571500" y="3695641"/>
            <a:ext cx="11049000" cy="290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u="none" strike="noStrike" cap="none" dirty="0" err="1">
                <a:solidFill>
                  <a:schemeClr val="bg1">
                    <a:lumMod val="9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Контакти</a:t>
            </a:r>
            <a:r>
              <a:rPr lang="en-US" sz="1350" b="1" u="none" strike="noStrike" cap="none" dirty="0">
                <a:solidFill>
                  <a:schemeClr val="bg1">
                    <a:lumMod val="9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1" u="none" strike="noStrike" cap="none" dirty="0" err="1">
                <a:solidFill>
                  <a:schemeClr val="bg1">
                    <a:lumMod val="9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розробника</a:t>
            </a:r>
            <a:r>
              <a:rPr lang="en-US" sz="1350" b="1" u="none" strike="noStrike" cap="none" dirty="0">
                <a:solidFill>
                  <a:schemeClr val="bg1">
                    <a:lumMod val="9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endParaRPr lang="uk-UA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13" name="Google Shape;213;p22"/>
          <p:cNvSpPr txBox="1"/>
          <p:nvPr/>
        </p:nvSpPr>
        <p:spPr>
          <a:xfrm>
            <a:off x="4766596" y="3992293"/>
            <a:ext cx="2667001" cy="872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algn="ctr">
              <a:lnSpc>
                <a:spcPct val="139925"/>
              </a:lnSpc>
            </a:pPr>
            <a:r>
              <a:rPr lang="en-US" sz="1350" i="1" dirty="0">
                <a:solidFill>
                  <a:schemeClr val="bg1">
                    <a:lumMod val="76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Andrii</a:t>
            </a:r>
            <a:r>
              <a:rPr lang="en-US" sz="1350" b="0" i="1" u="none" strike="noStrike" cap="none" dirty="0">
                <a:solidFill>
                  <a:schemeClr val="bg1">
                    <a:lumMod val="76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i="1" dirty="0" err="1">
                <a:solidFill>
                  <a:schemeClr val="bg1">
                    <a:lumMod val="76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Zyniuk</a:t>
            </a:r>
            <a:r>
              <a:rPr lang="en-US" sz="1350" i="1" dirty="0">
                <a:solidFill>
                  <a:schemeClr val="bg1">
                    <a:lumMod val="76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1" u="none" strike="noStrike" cap="none" dirty="0">
                <a:solidFill>
                  <a:schemeClr val="bg1">
                    <a:lumMod val="76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| </a:t>
            </a:r>
            <a:r>
              <a:rPr lang="en-US" sz="1350" i="1" dirty="0">
                <a:solidFill>
                  <a:schemeClr val="bg1">
                    <a:lumMod val="76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ІПЗ</a:t>
            </a:r>
            <a:r>
              <a:rPr lang="en-US" sz="1350" b="0" i="1" u="none" strike="noStrike" cap="none" dirty="0">
                <a:solidFill>
                  <a:schemeClr val="bg1">
                    <a:lumMod val="76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 22К</a:t>
            </a:r>
            <a:br>
              <a:rPr lang="en-US" i="1" dirty="0">
                <a:solidFill>
                  <a:schemeClr val="bg1">
                    <a:lumMod val="76000"/>
                  </a:schemeClr>
                </a:solidFill>
                <a:latin typeface="Urbanist"/>
                <a:ea typeface="Urbanist"/>
                <a:cs typeface="Urbanist"/>
              </a:rPr>
            </a:br>
            <a:r>
              <a:rPr lang="en-US" sz="1350" i="1" dirty="0">
                <a:solidFill>
                  <a:schemeClr val="bg1">
                    <a:lumMod val="76000"/>
                  </a:schemeClr>
                </a:solidFill>
                <a:latin typeface="Urbanist"/>
                <a:ea typeface="Urbanist"/>
                <a:cs typeface="Urbanist"/>
              </a:rPr>
              <a:t>ZyniukAA@krok.edu.ua</a:t>
            </a:r>
            <a:br>
              <a:rPr lang="en-US" sz="1350" i="1" dirty="0">
                <a:solidFill>
                  <a:schemeClr val="bg1">
                    <a:lumMod val="76000"/>
                  </a:schemeClr>
                </a:solidFill>
                <a:latin typeface="Urbanist"/>
                <a:ea typeface="Urbanist"/>
                <a:cs typeface="Urbanist"/>
              </a:rPr>
            </a:br>
            <a:r>
              <a:rPr lang="en-US" sz="1350" i="1" dirty="0">
                <a:solidFill>
                  <a:schemeClr val="bg1">
                    <a:lumMod val="76000"/>
                  </a:schemeClr>
                </a:solidFill>
                <a:latin typeface="Urbanist"/>
                <a:ea typeface="Urbanist"/>
                <a:cs typeface="Urbanist"/>
              </a:rPr>
              <a:t>linkedin.com/in/</a:t>
            </a:r>
            <a:r>
              <a:rPr lang="en-US" sz="1350" i="1" dirty="0" err="1">
                <a:solidFill>
                  <a:schemeClr val="bg1">
                    <a:lumMod val="76000"/>
                  </a:schemeClr>
                </a:solidFill>
                <a:latin typeface="Urbanist"/>
                <a:ea typeface="Urbanist"/>
                <a:cs typeface="Urbanist"/>
              </a:rPr>
              <a:t>anzyn</a:t>
            </a:r>
            <a:r>
              <a:rPr lang="en-US" sz="1350" i="1" dirty="0">
                <a:solidFill>
                  <a:schemeClr val="bg1">
                    <a:lumMod val="76000"/>
                  </a:schemeClr>
                </a:solidFill>
                <a:latin typeface="Urbanist"/>
                <a:ea typeface="Urbanist"/>
                <a:cs typeface="Urbanist"/>
              </a:rPr>
              <a:t>/</a:t>
            </a:r>
            <a:endParaRPr lang="uk-UA" i="1">
              <a:solidFill>
                <a:schemeClr val="bg1">
                  <a:lumMod val="76000"/>
                </a:schemeClr>
              </a:solidFill>
              <a:ea typeface="Urbanist"/>
              <a:cs typeface="Urbanis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Широкий екран</PresentationFormat>
  <Slides>10</Slides>
  <Notes>10</Notes>
  <HiddenSlides>0</HiddenSlide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10</vt:i4>
      </vt:variant>
    </vt:vector>
  </HeadingPairs>
  <TitlesOfParts>
    <vt:vector size="11" baseType="lpstr">
      <vt:lpstr>Office Theme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126</cp:revision>
  <dcterms:modified xsi:type="dcterms:W3CDTF">2026-05-22T00:08:23Z</dcterms:modified>
</cp:coreProperties>
</file>